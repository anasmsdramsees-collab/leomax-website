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05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BRIEF · MAY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LEOMAX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خطة دمج الذكاء الاصطناعي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Plan · Business Development · KSA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109728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949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 Elimam · Leomax Founder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0" y="6126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4592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القراءة الاستراتيجية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Read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73152" cy="27432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ليوماكس مش في مرحلة "ابحث عن فكرة".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القيد الحقيقي هو الوصول للعملاء الكبار في السوق السعودي — مش الميزانية، مش الأفكار.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معنى ذلك لـ AI: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  AI يخدم الإيرادات، مش الإنتاجية الداخلية فقط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  المنتج (Strategy OS) لازم يخدم وظيفتين: إيراد مستقل + أداة بيع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  كل output: عربي + إنجليزي، Vision 2030 aware، علاقة قبل عرض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Insight → Outreach → Deal. هذا ترتيب الأولويات.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4592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ملف الـ AI الخاص بك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AI Profile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94560"/>
            <a:ext cx="347472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مؤسس BD متعدد القطاعات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لوجستيات · SaaS · استثمار · في سوق علاقاتي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219456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2194560"/>
            <a:ext cx="347472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30175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القراءة الاستراتيجية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40233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وسيكولوجية العميل التجاري — أعلى من المتوسط في السوق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219456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2194560"/>
            <a:ext cx="347472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30175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محرك ذكاء وإنتاج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0" y="40233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ليس ككاتب — كطبقة تحليل وعرض تجاري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"تحويل كل عميل محتمل من اسم في LinkedIn إلى account brief + عرض مخصص + سيناريو دخول في ساعات."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4592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الطبقات الثلاث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AI Opportunity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566160" cy="3931920"/>
          </a:xfrm>
          <a:prstGeom prst="rect">
            <a:avLst/>
          </a:prstGeom>
          <a:solidFill>
            <a:srgbClr val="152A52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Revenue AI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إنتاج تجاري شخصي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297680"/>
            <a:ext cx="54864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4805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ChatGPT · Perplexity · Gamma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أداة تخدم: عميل، عرض، اجتماع، deal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5394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هذا الأسبوع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011680"/>
            <a:ext cx="3566160" cy="3931920"/>
          </a:xfrm>
          <a:prstGeom prst="rect">
            <a:avLst/>
          </a:prstGeom>
          <a:solidFill>
            <a:srgbClr val="152A52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4572000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3840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أتمتة العمليات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4297680"/>
            <a:ext cx="54864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44805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orchestrator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Intel · Proposal Gen · Market Brief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5394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الأسابيع 3-6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2011680"/>
            <a:ext cx="3566160" cy="3931920"/>
          </a:xfrm>
          <a:prstGeom prst="rect">
            <a:avLst/>
          </a:prstGeom>
          <a:solidFill>
            <a:srgbClr val="152A52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8412480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12480" y="3840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وكلاء ذكيون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12480" y="4297680"/>
            <a:ext cx="54864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44805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BD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Readiness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OS داخل المنتج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0" y="5394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الأسابيع 7-12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هذه الطبقات تُبنى بالتسلسل — لا تتجاوز واحدة قبل ما تحقق ROI.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4592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 — Personal Revenue 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الـ stack الشخصي — جاهز للتفعيل خلال 72 ساعة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20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الأداة · Tool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192024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الاستخدام في ليوماكس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32520" y="1920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الإخراج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774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237744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قراءة dataroom · تحليل عقود BD · مراجعة تقارير سوق طويلة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732520" y="23774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Account memo + risk flags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11064240" cy="502920"/>
          </a:xfrm>
          <a:prstGeom prst="rect">
            <a:avLst/>
          </a:prstGeom>
          <a:solidFill>
            <a:srgbClr val="F4F4E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80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Plus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88036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كتابة proposals · سيناريوهات · unit economics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32520" y="28803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Draft proposal جاهز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383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Pro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38328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بحث سوقي سريع · شركات سعودية · CEO intel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32520" y="3383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Dossier صفحة واحدة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11064240" cy="502920"/>
          </a:xfrm>
          <a:prstGeom prst="rect">
            <a:avLst/>
          </a:prstGeom>
          <a:solidFill>
            <a:srgbClr val="F4F4E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86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71800" y="388620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تحويل memo لعرض احترافي بعربي/إنجليزي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32520" y="3886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Deck جاهز للعميل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38912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89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Granola / Otter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71800" y="438912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تسجيل وتلخيص اجتماعات العملاء بالعربي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32520" y="4389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Summary + action items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11064240" cy="502920"/>
          </a:xfrm>
          <a:prstGeom prst="rect">
            <a:avLst/>
          </a:prstGeom>
          <a:solidFill>
            <a:srgbClr val="F4F4E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892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971800" y="489204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Knowledge base لكل عميل، صناعة، deal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32520" y="4892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Searchable memory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solidFill>
            <a:srgbClr val="E8D9B0"/>
          </a:solidFill>
          <a:ln w="12700">
            <a:solidFill>
              <a:srgbClr val="E8D9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القرار: Claude للقراءة العميقة · ChatGPT للإنتاج · Perplexity للسوق. هذا الـ stack الأساسي.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4592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II — Workflow Automation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ثلاث أتمتات على n8n — كلها تخدم محرك المبيعات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73152" cy="13716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286000"/>
            <a:ext cx="822960" cy="822960"/>
          </a:xfrm>
          <a:prstGeom prst="ellipse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Account Intelligence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ذكاء الحسابات الكبيرة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880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9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اسم شركة سعودية يُضاف لـ Google Sheet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</a:t>
            </a:r>
            <a:pPr indent="0" marL="0">
              <a:buNone/>
            </a:pPr>
            <a:r>
              <a:rPr lang="en-US" sz="9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Perplexity → LinkedIn → Claude memo → WhatsApp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75120" y="2240280"/>
            <a:ext cx="4846320" cy="914400"/>
          </a:xfrm>
          <a:prstGeom prst="rect">
            <a:avLst/>
          </a:prstGeom>
          <a:solidFill>
            <a:srgbClr val="FAFAF6"/>
          </a:solidFill>
          <a:ln w="6350">
            <a:solidFill>
              <a:srgbClr val="E8D9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12280" y="2560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accounts/أسبوع · 8 دقايق بدل 4 ساعات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66160"/>
            <a:ext cx="73152" cy="13716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40480"/>
            <a:ext cx="822960" cy="822960"/>
          </a:xfrm>
          <a:prstGeom prst="ellipse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840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Generator (AR + EN)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288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مولّد العروض الثنائي اللغة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4434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9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Typeform يُملأ بمعطيات العميل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</a:t>
            </a:r>
            <a:pPr indent="0" marL="0">
              <a:buNone/>
            </a:pPr>
            <a:r>
              <a:rPr lang="en-US" sz="9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يولّد proposal بعربي + إنجليزي + 3 tiers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75120" y="3794760"/>
            <a:ext cx="4846320" cy="914400"/>
          </a:xfrm>
          <a:prstGeom prst="rect">
            <a:avLst/>
          </a:prstGeom>
          <a:solidFill>
            <a:srgbClr val="FAFAF6"/>
          </a:solidFill>
          <a:ln w="6350">
            <a:solidFill>
              <a:srgbClr val="E8D9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41148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 lead لـ proposal: نفس اليوم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120640"/>
            <a:ext cx="73152" cy="13716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394960"/>
            <a:ext cx="822960" cy="822960"/>
          </a:xfrm>
          <a:prstGeom prst="ellipse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394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828800" y="5303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KSA Market Brief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828800" y="5669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نشرة السوق السعودي اليومية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828800" y="5989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9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كل يوم 7:30 صباحاً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</a:t>
            </a:r>
            <a:pPr indent="0" marL="0">
              <a:buNone/>
            </a:pPr>
            <a:r>
              <a:rPr lang="en-US" sz="9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Argaam · MAGNiTT · Tadawul → Claude → 1-page brief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75120" y="5349240"/>
            <a:ext cx="4846320" cy="914400"/>
          </a:xfrm>
          <a:prstGeom prst="rect">
            <a:avLst/>
          </a:prstGeom>
          <a:solidFill>
            <a:srgbClr val="FAFAF6"/>
          </a:solidFill>
          <a:ln w="6350">
            <a:solidFill>
              <a:srgbClr val="E8D9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12280" y="5669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محادثات/أسبوع تبدأ من إشارة في الـ brief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n8n (self-hosted على Hetzner ≈ $25/شهر) · Perplexity API · Claude API · WhatsApp Business API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4592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III — Agentic AI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ثلاثة وكلاء — كل واحد يستبدل عملية كاملة، مش مهمة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566160" cy="3931920"/>
          </a:xfrm>
          <a:prstGeom prst="rect">
            <a:avLst/>
          </a:prstGeom>
          <a:solidFill>
            <a:srgbClr val="152A52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BD Agent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الأهم لليوماكس — يدير قمع المبيعات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886200"/>
            <a:ext cx="301752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977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Account DB · Email logs · Case studies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709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Drive · Gmail drafts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53949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Checkpoint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56052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كل رسالة قبل الإرسال · كل صفقة &gt; 50K ريال manual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97680" y="2011680"/>
            <a:ext cx="3566160" cy="3931920"/>
          </a:xfrm>
          <a:prstGeom prst="rect">
            <a:avLst/>
          </a:prstGeom>
          <a:solidFill>
            <a:srgbClr val="152A52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2651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Readiness Agent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72000" y="3291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تجهيز شركة ناشئة للاستثمار في 2-3 أسابيع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886200"/>
            <a:ext cx="301752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977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4206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· Financials · Market data · Dataroom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4709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4937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memo · Cap table · Financial model v0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53949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Checkpoint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56052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كل assumption مالي — توقيع المؤسس · كل رقم — manual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38160" y="2011680"/>
            <a:ext cx="3566160" cy="3931920"/>
          </a:xfrm>
          <a:prstGeom prst="rect">
            <a:avLst/>
          </a:prstGeom>
          <a:solidFill>
            <a:srgbClr val="152A52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2651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OS (داخل المنتج)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412480" y="3291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هذا ليس agent لك — هذا المنتج اللي تبيعه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12480" y="3886200"/>
            <a:ext cx="301752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3977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0" y="4206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ops data · CRM · Market signals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0" y="47091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0" y="4937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insights · Decision recommendations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53949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Checkpoint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0" y="56052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كل توصية مع source + confidence + counter-evidence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9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القاعدة: AI proposes · You decide · System logs.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4592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خطة الـ 90 يوم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Roadmap — Concrete Deliverables &amp; Metrics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63040" y="2377440"/>
            <a:ext cx="923544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2212848"/>
            <a:ext cx="365760" cy="365760"/>
          </a:xfrm>
          <a:prstGeom prst="ellipse">
            <a:avLst/>
          </a:prstGeom>
          <a:solidFill>
            <a:srgbClr val="0A1A3A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2926080"/>
            <a:ext cx="32918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26080"/>
            <a:ext cx="329184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71600" y="3977640"/>
            <a:ext cx="45720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43891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Stack شخصي مفعّل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Knowledge Base + 4 قوالب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Library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5623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5852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Proposal: 2 أيام → 4 ساعات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212848"/>
            <a:ext cx="365760" cy="365760"/>
          </a:xfrm>
          <a:prstGeom prst="ellipse">
            <a:avLst/>
          </a:prstGeom>
          <a:solidFill>
            <a:srgbClr val="0A1A3A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2926080"/>
            <a:ext cx="32918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926080"/>
            <a:ext cx="329184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Automation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120640" y="3977640"/>
            <a:ext cx="45720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0640" y="43891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n8n منصب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Account Intel شغّال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Daily Market Brief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5623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5852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 brief تلقائي · 4 محادثات بدأت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058400" y="2212848"/>
            <a:ext cx="365760" cy="365760"/>
          </a:xfrm>
          <a:prstGeom prst="ellipse">
            <a:avLst/>
          </a:prstGeom>
          <a:solidFill>
            <a:srgbClr val="0A1A3A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95360" y="2926080"/>
            <a:ext cx="32918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95360" y="2926080"/>
            <a:ext cx="329184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6968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Agent Live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869680" y="3977640"/>
            <a:ext cx="45720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869680" y="43891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Enterprise BD Agent MVP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Investment Readiness كخدمة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رفع pricing 20-30%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869680" y="5623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869680" y="5852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صفقة BD مغلقة + 2 IR Sprints (~140K ريال)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4592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منتج SaaS الخاص بليوماكس — Pricing Tiers مقترحة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474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فقط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</a:t>
            </a:r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SAR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شهرياً · per month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4709160"/>
            <a:ext cx="25603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9377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▸  Dashboard مخصص للقطاع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▸  Reports أسبوعية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▸  Email support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920240"/>
            <a:ext cx="3474720" cy="4297680"/>
          </a:xfrm>
          <a:prstGeom prst="rect">
            <a:avLst/>
          </a:prstGeom>
          <a:solidFill>
            <a:srgbClr val="0A1A3A"/>
          </a:solidFill>
          <a:ln w="2540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7800" y="1755648"/>
            <a:ext cx="1645920" cy="32918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7556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2377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+ AI Insights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43400" y="33832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9,500</a:t>
            </a:r>
            <a:pPr algn="ctr" indent="0" marL="0">
              <a:buNone/>
            </a:pPr>
            <a:r>
              <a:rPr lang="en-US" sz="14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SAR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34340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شهرياً · per month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4526280"/>
            <a:ext cx="256032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47548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▸  كل ما سبق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▸  AI insights weekly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▸  Decision recommendations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▸  Slack/WhatsApp alerts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38160" y="2103120"/>
            <a:ext cx="3474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1248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+ Agent + Review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38160" y="35661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22,000</a:t>
            </a:r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SAR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8138160" y="4297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شهرياً · per month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95360" y="4709160"/>
            <a:ext cx="25603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49377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▸  كل ما سبق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▸  Strategy OS Agent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▸  Monthly Leomax review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▸  Priority support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4592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المخاطر والحدود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Risk &amp; Guardrails — أين AI سيفشل، وأين لا نؤتمت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349240" cy="502920"/>
          </a:xfrm>
          <a:prstGeom prst="rect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288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أين AI سيفشل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  بيانات غير منظمة → نتائج لا تُعتمد عليها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  Dashboard بدون تعريفات موحدة للـ KPIs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  قرار استثماري بدون assumptions صريحة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  خلط الـ correlation بالـ causation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  السياق السعودي العميق (majlis · wasta المشروعة)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  أرقام يُدخلها فريق بدون validation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5349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828800"/>
            <a:ext cx="5349240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288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لا تؤتمت أبداً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514600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  قرارات الاستثمار النهائية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  تسعير العملاء الاستراتيجيين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  العقود · الشراكات · المفاوضات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  تقييم أو فصل أفراد الفريق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  القرارات القانونية والامتثال (ZATCA · SAGIA)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52A5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▸  أي رسالة في موضوع حساس مع عميل كبير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  →  Team reviews data  →  You decide  →  System logs everything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LEOMAX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64592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ثلاث حركات لا أحد في السوق يقوم بها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Contrarian Moves — Compounding Edge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1143000"/>
          </a:xfrm>
          <a:prstGeom prst="rect">
            <a:avLst/>
          </a:prstGeom>
          <a:solidFill>
            <a:srgbClr val="152A52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194560" y="19933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Strategy 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94560" y="23957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بدل dashboard عام — Strategy OS مخصصة للوجستيات أولاً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1993392"/>
            <a:ext cx="4297680" cy="813816"/>
          </a:xfrm>
          <a:prstGeom prst="rect">
            <a:avLst/>
          </a:prstGeom>
          <a:solidFill>
            <a:srgbClr val="0A1A3A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20299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COMPOUNDS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60920" y="22402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تسعير أعلى 3x · احتفاظ أعلى لأن البديل = إعادة بناء كامل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11064240" cy="1143000"/>
          </a:xfrm>
          <a:prstGeom prst="rect">
            <a:avLst/>
          </a:prstGeom>
          <a:solidFill>
            <a:srgbClr val="152A52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4612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2194560" y="33192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BD-as-a-Service + AI Agent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4560" y="37216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Base fee + AI Agent + Commission على الصفقات (5-8%)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23760" y="3319272"/>
            <a:ext cx="4297680" cy="813816"/>
          </a:xfrm>
          <a:prstGeom prst="rect">
            <a:avLst/>
          </a:prstGeom>
          <a:solidFill>
            <a:srgbClr val="0A1A3A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33558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COMPOUNDS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60920" y="35661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تجذب الشركات الناشئة · تعطيك upside بلا سقف · لا أحد في السوق يقدمه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11064240" cy="1143000"/>
          </a:xfrm>
          <a:prstGeom prst="rect">
            <a:avLst/>
          </a:prstGeom>
          <a:solidFill>
            <a:srgbClr val="152A52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57200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2194560" y="46451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Memo Subscription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194560" y="50474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اشتراك شهري للـ Family Offices السعودية (SAR 18-30K/شهر)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23760" y="4645152"/>
            <a:ext cx="4297680" cy="813816"/>
          </a:xfrm>
          <a:prstGeom prst="rect">
            <a:avLst/>
          </a:prstGeom>
          <a:solidFill>
            <a:srgbClr val="0A1A3A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46817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COMPOUNDS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60920" y="48920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يحوّل ليوماكس من BD firm إلى Strategic Capital Partner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هذه ليست أفكار جديدة. هي حركات استراتيجية فيها compounding بمرور الوقت.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MOVE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الخطوة الأولى — هذا الأسبوع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1371600" cy="274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26080"/>
            <a:ext cx="594360" cy="59436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880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فعّل الـ Stack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Pro + Perplexity Pro + Gamma — اشترك اليوم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594360" cy="59436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ابني Account Brief Template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في Notion — بهيكل موحد للقطاعات الثلاثة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663440"/>
            <a:ext cx="594360" cy="59436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663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4592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اختار 5 حسابات سعودية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أنشئ brief كامل لكل واحدة في يومين — ابدأ محادثة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5943600"/>
            <a:ext cx="10789920" cy="640080"/>
          </a:xfrm>
          <a:prstGeom prst="rect">
            <a:avLst/>
          </a:prstGeom>
          <a:solidFill>
            <a:srgbClr val="152A5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943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النتيجة المتوقعة: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محادثة واحدة على الأقل تبدأ خلال أسبوع. لو نجح → ادخل n8n. لو فشل → المشكلة في الـ message مش الأداة.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Leomax — AI Integration Plan</dc:title>
  <dc:subject>PptxGenJS Presentation</dc:subject>
  <dc:creator>Leomax</dc:creator>
  <cp:lastModifiedBy>Leomax</cp:lastModifiedBy>
  <cp:revision>1</cp:revision>
  <dcterms:created xsi:type="dcterms:W3CDTF">2026-05-21T18:32:48Z</dcterms:created>
  <dcterms:modified xsi:type="dcterms:W3CDTF">2026-05-21T18:32:48Z</dcterms:modified>
</cp:coreProperties>
</file>